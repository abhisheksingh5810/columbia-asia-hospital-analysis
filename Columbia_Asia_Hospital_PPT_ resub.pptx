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3" r:id="rId16"/>
    <p:sldId id="274" r:id="rId17"/>
    <p:sldId id="275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6898"/>
    <a:srgbClr val="FFCB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CF4-4F83-BFC5-F10002DE81F4}"/>
              </c:ext>
            </c:extLst>
          </c:dPt>
          <c:dPt>
            <c:idx val="1"/>
            <c:invertIfNegative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CF4-4F83-BFC5-F10002DE81F4}"/>
              </c:ext>
            </c:extLst>
          </c:dPt>
          <c:dPt>
            <c:idx val="2"/>
            <c:invertIfNegative val="1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7CF4-4F83-BFC5-F10002DE81F4}"/>
              </c:ext>
            </c:extLst>
          </c:dPt>
          <c:dPt>
            <c:idx val="3"/>
            <c:invertIfNegative val="1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7CF4-4F83-BFC5-F10002DE81F4}"/>
              </c:ext>
            </c:extLst>
          </c:dPt>
          <c:dPt>
            <c:idx val="4"/>
            <c:invertIfNegative val="1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7CF4-4F83-BFC5-F10002DE81F4}"/>
              </c:ext>
            </c:extLst>
          </c:dPt>
          <c:dPt>
            <c:idx val="5"/>
            <c:invertIfNegative val="1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7CF4-4F83-BFC5-F10002DE81F4}"/>
              </c:ext>
            </c:extLst>
          </c:dPt>
          <c:dPt>
            <c:idx val="6"/>
            <c:invertIfNegative val="1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7CF4-4F83-BFC5-F10002DE81F4}"/>
              </c:ext>
            </c:extLst>
          </c:dPt>
          <c:cat>
            <c:strRef>
              <c:f>Sheet1!$A$2:$A$8</c:f>
              <c:strCache>
                <c:ptCount val="7"/>
                <c:pt idx="0">
                  <c:v>Orthopedics</c:v>
                </c:pt>
                <c:pt idx="1">
                  <c:v>General Practice</c:v>
                </c:pt>
                <c:pt idx="2">
                  <c:v>Neurology</c:v>
                </c:pt>
                <c:pt idx="3">
                  <c:v>Cardiology</c:v>
                </c:pt>
                <c:pt idx="4">
                  <c:v>Physiotherapy</c:v>
                </c:pt>
                <c:pt idx="5">
                  <c:v>Gastroenterology</c:v>
                </c:pt>
                <c:pt idx="6">
                  <c:v>Renal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172939773</c:v>
                </c:pt>
                <c:pt idx="1">
                  <c:v>164070816</c:v>
                </c:pt>
                <c:pt idx="2">
                  <c:v>72795752</c:v>
                </c:pt>
                <c:pt idx="3">
                  <c:v>68370250</c:v>
                </c:pt>
                <c:pt idx="4">
                  <c:v>16592824</c:v>
                </c:pt>
                <c:pt idx="5">
                  <c:v>9783335</c:v>
                </c:pt>
                <c:pt idx="6">
                  <c:v>4756367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D2-4A04-8FD5-55A0C11E29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Max appointment fee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66B-4FA2-9648-B6BD43CF85B3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66B-4FA2-9648-B6BD43CF85B3}"/>
              </c:ext>
            </c:extLst>
          </c:dPt>
          <c:dPt>
            <c:idx val="2"/>
            <c:invertIfNegative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66B-4FA2-9648-B6BD43CF85B3}"/>
              </c:ext>
            </c:extLst>
          </c:dPt>
          <c:dPt>
            <c:idx val="3"/>
            <c:invertIfNegative val="1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66B-4FA2-9648-B6BD43CF85B3}"/>
              </c:ext>
            </c:extLst>
          </c:dPt>
          <c:dPt>
            <c:idx val="4"/>
            <c:invertIfNegative val="1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66B-4FA2-9648-B6BD43CF85B3}"/>
              </c:ext>
            </c:extLst>
          </c:dPt>
          <c:dPt>
            <c:idx val="5"/>
            <c:invertIfNegative val="1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66B-4FA2-9648-B6BD43CF85B3}"/>
              </c:ext>
            </c:extLst>
          </c:dPt>
          <c:dPt>
            <c:idx val="6"/>
            <c:invertIfNegative val="1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66B-4FA2-9648-B6BD43CF85B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Orthopedics</c:v>
                </c:pt>
                <c:pt idx="1">
                  <c:v>General Practice</c:v>
                </c:pt>
                <c:pt idx="2">
                  <c:v>Neurology</c:v>
                </c:pt>
                <c:pt idx="3">
                  <c:v>Cardiology</c:v>
                </c:pt>
                <c:pt idx="4">
                  <c:v>Physiotherapy</c:v>
                </c:pt>
                <c:pt idx="5">
                  <c:v>Gastroenterology</c:v>
                </c:pt>
                <c:pt idx="6">
                  <c:v>Renal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700</c:v>
                </c:pt>
                <c:pt idx="1">
                  <c:v>500</c:v>
                </c:pt>
                <c:pt idx="2">
                  <c:v>1500</c:v>
                </c:pt>
                <c:pt idx="3">
                  <c:v>1200</c:v>
                </c:pt>
                <c:pt idx="4">
                  <c:v>1000</c:v>
                </c:pt>
                <c:pt idx="5">
                  <c:v>700</c:v>
                </c:pt>
                <c:pt idx="6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66B-4FA2-9648-B6BD43CF85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wait (min)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noFill/>
              <a:ln w="9525" cap="flat" cmpd="sng" algn="ctr">
                <a:solidFill>
                  <a:schemeClr val="accent1"/>
                </a:solidFill>
                <a:miter lim="800000"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1-0F98-4725-B897-366B8DA526EE}"/>
              </c:ext>
            </c:extLst>
          </c:dPt>
          <c:dPt>
            <c:idx val="1"/>
            <c:invertIfNegative val="1"/>
            <c:bubble3D val="0"/>
            <c:spPr>
              <a:noFill/>
              <a:ln w="9525" cap="flat" cmpd="sng" algn="ctr">
                <a:solidFill>
                  <a:schemeClr val="accent2"/>
                </a:solidFill>
                <a:miter lim="800000"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3-0F98-4725-B897-366B8DA526EE}"/>
              </c:ext>
            </c:extLst>
          </c:dPt>
          <c:dPt>
            <c:idx val="2"/>
            <c:invertIfNegative val="1"/>
            <c:bubble3D val="0"/>
            <c:spPr>
              <a:noFill/>
              <a:ln w="9525" cap="flat" cmpd="sng" algn="ctr">
                <a:solidFill>
                  <a:schemeClr val="accent3"/>
                </a:solidFill>
                <a:miter lim="800000"/>
              </a:ln>
              <a:effectLst>
                <a:glow rad="63500">
                  <a:schemeClr val="accent3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5-0F98-4725-B897-366B8DA526EE}"/>
              </c:ext>
            </c:extLst>
          </c:dPt>
          <c:dPt>
            <c:idx val="3"/>
            <c:invertIfNegative val="1"/>
            <c:bubble3D val="0"/>
            <c:spPr>
              <a:noFill/>
              <a:ln w="9525" cap="flat" cmpd="sng" algn="ctr">
                <a:solidFill>
                  <a:schemeClr val="accent4"/>
                </a:solidFill>
                <a:miter lim="800000"/>
              </a:ln>
              <a:effectLst>
                <a:glow rad="63500">
                  <a:schemeClr val="accent4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7-0F98-4725-B897-366B8DA526EE}"/>
              </c:ext>
            </c:extLst>
          </c:dPt>
          <c:dPt>
            <c:idx val="4"/>
            <c:invertIfNegative val="1"/>
            <c:bubble3D val="0"/>
            <c:spPr>
              <a:noFill/>
              <a:ln w="9525" cap="flat" cmpd="sng" algn="ctr">
                <a:solidFill>
                  <a:schemeClr val="accent5"/>
                </a:solidFill>
                <a:miter lim="800000"/>
              </a:ln>
              <a:effectLst>
                <a:glow rad="63500">
                  <a:schemeClr val="accent5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9-0F98-4725-B897-366B8DA526EE}"/>
              </c:ext>
            </c:extLst>
          </c:dPt>
          <c:dPt>
            <c:idx val="5"/>
            <c:invertIfNegative val="1"/>
            <c:bubble3D val="0"/>
            <c:spPr>
              <a:noFill/>
              <a:ln w="9525" cap="flat" cmpd="sng" algn="ctr">
                <a:solidFill>
                  <a:schemeClr val="accent6"/>
                </a:solidFill>
                <a:miter lim="800000"/>
              </a:ln>
              <a:effectLst>
                <a:glow rad="63500">
                  <a:schemeClr val="accent6"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B-0F98-4725-B897-366B8DA526EE}"/>
              </c:ext>
            </c:extLst>
          </c:dPt>
          <c:dPt>
            <c:idx val="6"/>
            <c:invertIfNegative val="1"/>
            <c:bubble3D val="0"/>
            <c:spPr>
              <a:noFill/>
              <a:ln w="9525" cap="flat" cmpd="sng" algn="ctr">
                <a:solidFill>
                  <a:schemeClr val="accent1">
                    <a:lumMod val="60000"/>
                  </a:schemeClr>
                </a:solidFill>
                <a:miter lim="800000"/>
              </a:ln>
              <a:effectLst>
                <a:glow rad="63500">
                  <a:schemeClr val="accent1">
                    <a:lumMod val="60000"/>
                    <a:satMod val="175000"/>
                    <a:alpha val="25000"/>
                  </a:schemeClr>
                </a:glow>
              </a:effectLst>
            </c:spPr>
            <c:extLst>
              <c:ext xmlns:c16="http://schemas.microsoft.com/office/drawing/2014/chart" uri="{C3380CC4-5D6E-409C-BE32-E72D297353CC}">
                <c16:uniqueId val="{0000000D-0F98-4725-B897-366B8DA526EE}"/>
              </c:ext>
            </c:extLst>
          </c:dPt>
          <c:cat>
            <c:strRef>
              <c:f>Sheet1!$A$2:$A$8</c:f>
              <c:strCache>
                <c:ptCount val="7"/>
                <c:pt idx="0">
                  <c:v>Orthopedics</c:v>
                </c:pt>
                <c:pt idx="1">
                  <c:v>General Practice</c:v>
                </c:pt>
                <c:pt idx="2">
                  <c:v>Neurology</c:v>
                </c:pt>
                <c:pt idx="3">
                  <c:v>Cardiology</c:v>
                </c:pt>
                <c:pt idx="4">
                  <c:v>Physiotherapy</c:v>
                </c:pt>
                <c:pt idx="5">
                  <c:v>Gastroenterology</c:v>
                </c:pt>
                <c:pt idx="6">
                  <c:v>Renal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35</c:v>
                </c:pt>
                <c:pt idx="2">
                  <c:v>37</c:v>
                </c:pt>
                <c:pt idx="3">
                  <c:v>35</c:v>
                </c:pt>
                <c:pt idx="4">
                  <c:v>37</c:v>
                </c:pt>
                <c:pt idx="5">
                  <c:v>36</c:v>
                </c:pt>
                <c:pt idx="6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F1-4145-AB4C-3EC609CD27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-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0">
                    <a:schemeClr val="dk1">
                      <a:lumMod val="65000"/>
                      <a:lumOff val="35000"/>
                    </a:schemeClr>
                  </a:gs>
                  <a:gs pos="100000">
                    <a:schemeClr val="dk1">
                      <a:lumMod val="75000"/>
                      <a:lumOff val="25000"/>
                    </a:schemeClr>
                  </a:gs>
                </a:gsLst>
                <a:lin ang="10800000" scaled="0"/>
              </a:gra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0">
                    <a:schemeClr val="dk1">
                      <a:lumMod val="65000"/>
                      <a:lumOff val="35000"/>
                    </a:schemeClr>
                  </a:gs>
                  <a:gs pos="100000">
                    <a:schemeClr val="dk1">
                      <a:lumMod val="75000"/>
                      <a:lumOff val="25000"/>
                    </a:schemeClr>
                  </a:gs>
                </a:gsLst>
                <a:lin ang="108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43A-410C-8347-800B51D2BFD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43A-410C-8347-800B51D2BFD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043A-410C-8347-800B51D2BFD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043A-410C-8347-800B51D2BFDA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043A-410C-8347-800B51D2BFDA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043A-410C-8347-800B51D2BFDA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043A-410C-8347-800B51D2BFDA}"/>
              </c:ext>
            </c:extLst>
          </c:dPt>
          <c:dLbls>
            <c:spPr>
              <a:pattFill prst="pct75">
                <a:fgClr>
                  <a:prstClr val="black">
                    <a:lumMod val="75000"/>
                    <a:lumOff val="25000"/>
                  </a:prstClr>
                </a:fgClr>
                <a:bgClr>
                  <a:prstClr val="black">
                    <a:lumMod val="65000"/>
                    <a:lumOff val="35000"/>
                  </a:prst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Orthopedics</c:v>
                </c:pt>
                <c:pt idx="1">
                  <c:v>General Practice</c:v>
                </c:pt>
                <c:pt idx="2">
                  <c:v>Neurology</c:v>
                </c:pt>
                <c:pt idx="3">
                  <c:v>Cardiology</c:v>
                </c:pt>
                <c:pt idx="4">
                  <c:v>Physiotherapy</c:v>
                </c:pt>
                <c:pt idx="5">
                  <c:v>Gastroenterology</c:v>
                </c:pt>
                <c:pt idx="6">
                  <c:v>Renal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172939773</c:v>
                </c:pt>
                <c:pt idx="1">
                  <c:v>164070816</c:v>
                </c:pt>
                <c:pt idx="2">
                  <c:v>72795752</c:v>
                </c:pt>
                <c:pt idx="3">
                  <c:v>68370250</c:v>
                </c:pt>
                <c:pt idx="4">
                  <c:v>16592824</c:v>
                </c:pt>
                <c:pt idx="5">
                  <c:v>9783335</c:v>
                </c:pt>
                <c:pt idx="6">
                  <c:v>4756367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D4-4676-8F01-B822F9F267DF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30D-4446-B4CF-B3DAD5FDCE65}"/>
              </c:ext>
            </c:extLst>
          </c:dPt>
          <c:dPt>
            <c:idx val="1"/>
            <c:invertIfNegative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230D-4446-B4CF-B3DAD5FDCE65}"/>
              </c:ext>
            </c:extLst>
          </c:dPt>
          <c:dPt>
            <c:idx val="2"/>
            <c:invertIfNegative val="1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230D-4446-B4CF-B3DAD5FDCE65}"/>
              </c:ext>
            </c:extLst>
          </c:dPt>
          <c:dPt>
            <c:idx val="3"/>
            <c:invertIfNegative val="1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230D-4446-B4CF-B3DAD5FDCE65}"/>
              </c:ext>
            </c:extLst>
          </c:dPt>
          <c:cat>
            <c:strRef>
              <c:f>Sheet1!$A$2:$A$5</c:f>
              <c:strCache>
                <c:ptCount val="4"/>
                <c:pt idx="0">
                  <c:v>Adult (20–64)</c:v>
                </c:pt>
                <c:pt idx="1">
                  <c:v>Senior (&gt;64)</c:v>
                </c:pt>
                <c:pt idx="2">
                  <c:v>Child (0–12)</c:v>
                </c:pt>
                <c:pt idx="3">
                  <c:v>Teenager (13–19)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290974321</c:v>
                </c:pt>
                <c:pt idx="1">
                  <c:v>88021881</c:v>
                </c:pt>
                <c:pt idx="2">
                  <c:v>80449458</c:v>
                </c:pt>
                <c:pt idx="3">
                  <c:v>49863457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3C-42BD-977A-B4CC7B4414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 visits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513</c:v>
                </c:pt>
                <c:pt idx="1">
                  <c:v>431</c:v>
                </c:pt>
                <c:pt idx="2">
                  <c:v>506</c:v>
                </c:pt>
                <c:pt idx="3">
                  <c:v>948</c:v>
                </c:pt>
                <c:pt idx="4">
                  <c:v>999</c:v>
                </c:pt>
                <c:pt idx="5">
                  <c:v>991</c:v>
                </c:pt>
                <c:pt idx="6">
                  <c:v>952</c:v>
                </c:pt>
                <c:pt idx="7">
                  <c:v>1024</c:v>
                </c:pt>
                <c:pt idx="8">
                  <c:v>935</c:v>
                </c:pt>
                <c:pt idx="9">
                  <c:v>964</c:v>
                </c:pt>
                <c:pt idx="10">
                  <c:v>464</c:v>
                </c:pt>
                <c:pt idx="11">
                  <c:v>489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6F-45E7-974F-D19BFA199D1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8791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9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dk1">
                <a:lumMod val="65000"/>
                <a:lumOff val="35000"/>
              </a:schemeClr>
            </a:gs>
            <a:gs pos="100000">
              <a:schemeClr val="dk1">
                <a:lumMod val="75000"/>
                <a:lumOff val="25000"/>
              </a:schemeClr>
            </a:gs>
          </a:gsLst>
          <a:lin ang="10800000" scaled="0"/>
        </a:gradFill>
        <a:round/>
      </a:ln>
      <a:effectLst/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3D3CF-B69D-56BA-8FD8-8113F7EC1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C1472-7639-E6AD-9A54-DEC2E54BE5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956E8-27BF-2E8B-4BF5-62DC39A6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20752-35F3-5EEB-2C0A-515ACDACA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DDE31-0553-40F7-BD31-0A0AC64D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28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4147C-9813-76F4-AC05-9575C5194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465AD-4811-5AE3-FF26-FF93E9AB2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A96C-1537-81D8-3944-F57BDA5B0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48C66-35B9-6A43-F9DA-B0CB7ED3B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E80E7-B22B-3E51-6374-9B3CCF536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22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F32A-5DD4-4E59-D949-BE5DEF6C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5ECE6-50BD-FA13-20E9-7402FC619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0FF55-CB71-CB8A-3154-8CA42D4B4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748D8-BC7C-A1E2-74D3-361D78E0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A5A4F-1A82-3910-E9F7-706498AA6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42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6418-44C2-4F48-ED59-1C7C13B90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3569F-4866-23F6-8E91-11E4CB7FE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7050E4-C005-0CDD-B0FF-90A729E9D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D3517-BCBF-BB8C-B3FF-B8C854511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B2C3F-F61C-C564-5731-6DA2F826F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C07D8-0A35-1F3C-D2D3-DFD094AB3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99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19E9F-6B8E-E76B-6199-1D8EA18DA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5EB07-BC20-4C78-1F47-556761B54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AB8DC1-2A50-DBA1-42B7-D03A2117A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16E9EE-9835-6348-FE80-EF004D248A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F98B8F-1D5A-955C-C870-21B312074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E81A15-8812-43DA-54F0-26F7F024D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B6B6E3-7969-3448-6DCA-04F25E7F8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F2BC6B-9F02-A5C0-EC4B-F52F1BD48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C79AC-38BE-D15A-B4F5-17D3E95B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8AA0D9-B63E-B8BD-E2C2-DFA0A4D92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841BB7-0CD6-7801-571C-D92FB04F5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CD6A1-32DB-22CC-8424-87CA23643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89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240CE-2102-3BD4-DD2A-FE9D6338D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B61B17-5BD0-7428-6946-E691A3A76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F51BC-20BA-4957-4E69-4C6F96D20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8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A8D6-083B-854E-4CD7-3214FEA53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C1B5D-C3B8-89F6-DB4B-FEC936B7F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1D39C-9F29-C8E4-C002-1FEDF0655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10C6C-DB7F-0F7C-8C07-ABA53259C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B14F6-A462-1989-2F1F-E881B48D6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EDBAE-98E7-3262-C521-758EFFE5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032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2F802-EDEE-B104-1DB6-B1142156F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A6D351-DDA7-A4AC-B029-B78C8673BF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19AF0B-0FBD-B010-BE96-E2F90419D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59464-9509-54D3-D249-632CBC61E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3683B-10F9-36D2-49CD-F26AD6F66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4AA8B-A91A-FFB6-B14A-2BCB89D5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99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5DDA6-3BB6-2649-CF88-C92C82453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902C9F-E624-C6C0-ACAE-93AD8F73C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018CA-1383-8D6C-E737-3AB45796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62915-9046-1B93-F557-65C8B181C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DFEFE-78F3-BABA-FE41-3814A870D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8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C0771D-97BE-B216-C4B7-DDB05AFBF6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499DE-1243-9D33-822C-2991AF103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C8CE9-B735-0F14-6F2D-41A4D0A2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F30D6-FC3B-4DE3-DE24-F83DD898E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CCDA-A0BD-BE70-A5F7-1C5ACF4A1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5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9459F4-867A-D009-8291-19B8F7D7E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7CC37-4359-8A12-2EF2-2B19D42ED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0BD7A-9F2A-2134-F662-901C5FD98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3B2E1-7A43-EFE3-600C-A2E483753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38FB6-258A-FE5F-F203-8F10727E9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13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3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01768" y="1319743"/>
            <a:ext cx="12015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600" b="1" dirty="0">
                <a:latin typeface="Aptos"/>
              </a:rPr>
              <a:t>COLUMBIA ASIA HOSPITAL</a:t>
            </a:r>
            <a:endParaRPr sz="3600" b="1" dirty="0"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52616" y="1889130"/>
            <a:ext cx="102412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latin typeface="Aptos"/>
              </a:rPr>
              <a:t>Hospital Performance </a:t>
            </a:r>
            <a:endParaRPr lang="en-IN" sz="2200" b="1" dirty="0">
              <a:latin typeface="Aptos"/>
            </a:endParaRPr>
          </a:p>
          <a:p>
            <a:pPr algn="l"/>
            <a:r>
              <a:rPr sz="2200" b="1" dirty="0">
                <a:latin typeface="Aptos"/>
              </a:rPr>
              <a:t>&amp; </a:t>
            </a:r>
            <a:r>
              <a:rPr lang="en-IN" sz="2200" b="1" dirty="0">
                <a:latin typeface="Aptos"/>
              </a:rPr>
              <a:t>   </a:t>
            </a:r>
            <a:r>
              <a:rPr sz="2200" b="1" dirty="0">
                <a:latin typeface="Aptos"/>
              </a:rPr>
              <a:t>Patient Analys</a:t>
            </a:r>
            <a:r>
              <a:rPr lang="en-IN" sz="2200" b="1" dirty="0">
                <a:latin typeface="Aptos"/>
              </a:rPr>
              <a:t>is</a:t>
            </a:r>
          </a:p>
          <a:p>
            <a:pPr algn="l"/>
            <a:endParaRPr sz="2200" b="1" dirty="0"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52600" y="4445651"/>
            <a:ext cx="868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chemeClr val="bg1"/>
                </a:solidFill>
                <a:latin typeface="Aptos"/>
              </a:rPr>
              <a:t>Power BI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2600" y="5062210"/>
            <a:ext cx="4572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chemeClr val="bg1"/>
                </a:solidFill>
                <a:latin typeface="Aptos"/>
              </a:rPr>
              <a:t>Prepared </a:t>
            </a:r>
            <a:r>
              <a:rPr lang="en-IN" sz="2000" b="1" dirty="0">
                <a:solidFill>
                  <a:schemeClr val="bg1"/>
                </a:solidFill>
                <a:latin typeface="Aptos"/>
              </a:rPr>
              <a:t>By</a:t>
            </a:r>
          </a:p>
          <a:p>
            <a:pPr algn="l"/>
            <a:r>
              <a:rPr lang="en-IN" sz="2000" b="1" dirty="0">
                <a:solidFill>
                  <a:schemeClr val="bg1"/>
                </a:solidFill>
                <a:latin typeface="Aptos"/>
              </a:rPr>
              <a:t> Abhishek Kumar Singh</a:t>
            </a:r>
          </a:p>
          <a:p>
            <a:pPr algn="l"/>
            <a:endParaRPr lang="en-IN" sz="2000" b="1" dirty="0">
              <a:solidFill>
                <a:schemeClr val="bg1"/>
              </a:solidFill>
              <a:latin typeface="Aptos"/>
            </a:endParaRPr>
          </a:p>
          <a:p>
            <a:pPr algn="l"/>
            <a:r>
              <a:rPr lang="en-IN" sz="2000" b="1" dirty="0">
                <a:solidFill>
                  <a:schemeClr val="bg1"/>
                </a:solidFill>
                <a:latin typeface="Aptos"/>
              </a:rPr>
              <a:t>Date – 14/08/2026</a:t>
            </a:r>
          </a:p>
          <a:p>
            <a:pPr algn="l"/>
            <a:endParaRPr sz="2400" b="1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3000">
        <p:fade/>
      </p:transition>
    </mc:Choice>
    <mc:Fallback xmlns="">
      <p:transition spd="slow" advClick="0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E678E4-E872-E067-79E1-F530EF5CB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>
            <a:extLst>
              <a:ext uri="{FF2B5EF4-FFF2-40B4-BE49-F238E27FC236}">
                <a16:creationId xmlns:a16="http://schemas.microsoft.com/office/drawing/2014/main" id="{176DEE03-587F-E588-7116-DE4A3B979F37}"/>
              </a:ext>
            </a:extLst>
          </p:cNvPr>
          <p:cNvSpPr txBox="1">
            <a:spLocks/>
          </p:cNvSpPr>
          <p:nvPr/>
        </p:nvSpPr>
        <p:spPr>
          <a:xfrm>
            <a:off x="1170523" y="813300"/>
            <a:ext cx="8911687" cy="128089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solidFill>
                  <a:srgbClr val="E66898"/>
                </a:solidFill>
                <a:latin typeface="Aptos" panose="020B0004020202020204" pitchFamily="34" charset="0"/>
              </a:rPr>
              <a:t>|</a:t>
            </a:r>
            <a:r>
              <a:rPr lang="en-IN" sz="2800" b="1" dirty="0">
                <a:solidFill>
                  <a:srgbClr val="E66898"/>
                </a:solidFill>
                <a:latin typeface="Aptos" panose="020B0004020202020204" pitchFamily="34" charset="0"/>
              </a:rPr>
              <a:t> </a:t>
            </a:r>
            <a:r>
              <a:rPr lang="en-IN" sz="2800" b="1" dirty="0">
                <a:solidFill>
                  <a:schemeClr val="accent4"/>
                </a:solidFill>
                <a:latin typeface="Aptos" panose="020B0004020202020204" pitchFamily="34" charset="0"/>
              </a:rPr>
              <a:t>Introd</a:t>
            </a:r>
            <a:r>
              <a:rPr lang="en-IN" sz="2800" b="1" dirty="0">
                <a:solidFill>
                  <a:schemeClr val="accent5"/>
                </a:solidFill>
                <a:latin typeface="Aptos" panose="020B0004020202020204" pitchFamily="34" charset="0"/>
              </a:rPr>
              <a:t>uction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872ECEA7-AA0A-8F2A-E3A7-710D3B60E9B5}"/>
              </a:ext>
            </a:extLst>
          </p:cNvPr>
          <p:cNvSpPr txBox="1">
            <a:spLocks/>
          </p:cNvSpPr>
          <p:nvPr/>
        </p:nvSpPr>
        <p:spPr>
          <a:xfrm>
            <a:off x="1058333" y="1564749"/>
            <a:ext cx="7816321" cy="37285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300" b="1" dirty="0">
              <a:latin typeface="Aptos" panose="020B0004020202020204" pitchFamily="34" charset="0"/>
            </a:endParaRPr>
          </a:p>
          <a:p>
            <a:r>
              <a:rPr lang="en-US" sz="1300" b="1" dirty="0">
                <a:latin typeface="Aptos" panose="020B0004020202020204" pitchFamily="34" charset="0"/>
              </a:rPr>
              <a:t>Columbia Asia Hospital stands as a beacon of healthcare excellence, serving thousands of patients with dedication and care. The hospital’s latest performance report paints a vivid picture of its operations, shedding light on key metrics, patient satisfaction, and financial health.</a:t>
            </a:r>
          </a:p>
          <a:p>
            <a:pPr marL="0" indent="0">
              <a:buNone/>
            </a:pPr>
            <a:endParaRPr lang="en-US" sz="1300" b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1300" b="1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US" sz="1300" b="1" dirty="0">
                <a:latin typeface="Aptos" panose="020B0004020202020204" pitchFamily="34" charset="0"/>
              </a:rPr>
              <a:t>        The report emphasize on the following areas :</a:t>
            </a:r>
          </a:p>
          <a:p>
            <a:pPr lvl="1"/>
            <a:r>
              <a:rPr lang="en-IN" sz="1300" b="1" dirty="0">
                <a:latin typeface="Aptos" panose="020B0004020202020204" pitchFamily="34" charset="0"/>
              </a:rPr>
              <a:t>Assess the Hospital Revenue generation</a:t>
            </a:r>
          </a:p>
          <a:p>
            <a:pPr lvl="1"/>
            <a:r>
              <a:rPr lang="en-IN" sz="1300" b="1" dirty="0">
                <a:latin typeface="Aptos" panose="020B0004020202020204" pitchFamily="34" charset="0"/>
              </a:rPr>
              <a:t>Insights about the suitable departments for new hires</a:t>
            </a:r>
          </a:p>
          <a:p>
            <a:pPr lvl="1"/>
            <a:r>
              <a:rPr lang="en-IN" sz="1300" b="1" dirty="0">
                <a:latin typeface="Aptos" panose="020B0004020202020204" pitchFamily="34" charset="0"/>
              </a:rPr>
              <a:t>Strategies suggestions for patient discounts</a:t>
            </a:r>
          </a:p>
          <a:p>
            <a:endParaRPr lang="en-US" sz="1300" b="1" dirty="0">
              <a:latin typeface="Aptos" panose="020B00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1300" b="1" dirty="0">
              <a:latin typeface="Aptos" panose="020B00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4559512-C6E4-5FC5-0B76-D2E86C4D2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920" b="98309" l="4067" r="89834">
                        <a14:foregroundMark x1="10721" y1="37632" x2="13494" y2="40592"/>
                        <a14:foregroundMark x1="10536" y1="36998" x2="12200" y2="42072"/>
                        <a14:foregroundMark x1="18115" y1="88584" x2="31978" y2="94926"/>
                        <a14:foregroundMark x1="31978" y1="94926" x2="33457" y2="89006"/>
                        <a14:foregroundMark x1="45102" y1="63002" x2="45656" y2="22199"/>
                        <a14:foregroundMark x1="45656" y1="22199" x2="56562" y2="12896"/>
                        <a14:foregroundMark x1="56562" y1="12896" x2="75046" y2="12896"/>
                        <a14:foregroundMark x1="75046" y1="12896" x2="82994" y2="35095"/>
                        <a14:foregroundMark x1="82994" y1="35095" x2="82810" y2="56660"/>
                        <a14:foregroundMark x1="82810" y1="56660" x2="64325" y2="62368"/>
                        <a14:foregroundMark x1="64325" y1="62368" x2="61553" y2="42495"/>
                        <a14:foregroundMark x1="61553" y1="42495" x2="67652" y2="15856"/>
                        <a14:foregroundMark x1="67652" y1="15856" x2="61738" y2="10359"/>
                        <a14:foregroundMark x1="13494" y1="30655" x2="4436" y2="44820"/>
                        <a14:foregroundMark x1="4436" y1="44820" x2="13863" y2="42283"/>
                        <a14:foregroundMark x1="16451" y1="67230" x2="18115" y2="84355"/>
                        <a14:foregroundMark x1="46580" y1="29387" x2="50462" y2="11416"/>
                        <a14:foregroundMark x1="59242" y1="5998" x2="64510" y2="2748"/>
                        <a14:foregroundMark x1="50462" y1="11416" x2="54010" y2="9227"/>
                        <a14:foregroundMark x1="77879" y1="9661" x2="78004" y2="9725"/>
                        <a14:foregroundMark x1="64510" y1="2748" x2="69062" y2="5102"/>
                        <a14:foregroundMark x1="78004" y1="9725" x2="83549" y2="24947"/>
                        <a14:foregroundMark x1="83549" y1="24947" x2="84843" y2="47569"/>
                        <a14:foregroundMark x1="84843" y1="47569" x2="71534" y2="63425"/>
                        <a14:foregroundMark x1="71534" y1="63425" x2="50277" y2="55180"/>
                        <a14:foregroundMark x1="50277" y1="55180" x2="44732" y2="39746"/>
                        <a14:foregroundMark x1="44732" y1="39746" x2="49168" y2="21142"/>
                        <a14:foregroundMark x1="49168" y1="21142" x2="49168" y2="20930"/>
                        <a14:foregroundMark x1="63401" y1="18816" x2="47874" y2="38689"/>
                        <a14:foregroundMark x1="47874" y1="38689" x2="75786" y2="53488"/>
                        <a14:foregroundMark x1="75786" y1="53488" x2="80776" y2="34884"/>
                        <a14:foregroundMark x1="80776" y1="34884" x2="70055" y2="25159"/>
                        <a14:foregroundMark x1="70055" y1="25159" x2="62107" y2="23890"/>
                        <a14:foregroundMark x1="63031" y1="33192" x2="52495" y2="54123"/>
                        <a14:foregroundMark x1="52495" y1="54123" x2="55638" y2="52854"/>
                        <a14:foregroundMark x1="66583" y1="9054" x2="58410" y2="9514"/>
                        <a14:foregroundMark x1="60628" y1="5920" x2="66842" y2="8641"/>
                        <a14:foregroundMark x1="68946" y1="24947" x2="56377" y2="42706"/>
                        <a14:foregroundMark x1="56377" y1="42706" x2="78189" y2="37421"/>
                        <a14:foregroundMark x1="78189" y1="37421" x2="74307" y2="17970"/>
                        <a14:foregroundMark x1="74307" y1="17970" x2="56932" y2="21987"/>
                        <a14:foregroundMark x1="56932" y1="21987" x2="49723" y2="36786"/>
                        <a14:foregroundMark x1="31978" y1="8245" x2="19224" y2="6131"/>
                        <a14:foregroundMark x1="19224" y1="6131" x2="18854" y2="6765"/>
                        <a14:foregroundMark x1="43438" y1="95560" x2="51201" y2="93869"/>
                        <a14:foregroundMark x1="78928" y1="95349" x2="82810" y2="97040"/>
                        <a14:foregroundMark x1="62662" y1="49894" x2="78743" y2="24947"/>
                        <a14:foregroundMark x1="78743" y1="24947" x2="64695" y2="17548"/>
                        <a14:foregroundMark x1="64695" y1="17548" x2="63401" y2="24736"/>
                        <a14:foregroundMark x1="19778" y1="97252" x2="31978" y2="95349"/>
                        <a14:foregroundMark x1="27911" y1="97674" x2="32348" y2="96829"/>
                        <a14:foregroundMark x1="43438" y1="98309" x2="49353" y2="96406"/>
                        <a14:foregroundMark x1="56377" y1="20507" x2="56192" y2="45877"/>
                        <a14:foregroundMark x1="56192" y1="45877" x2="60074" y2="28964"/>
                        <a14:foregroundMark x1="60074" y1="28964" x2="58410" y2="27273"/>
                        <a14:backgroundMark x1="68946" y1="5285" x2="79298" y2="7400"/>
                        <a14:backgroundMark x1="55453" y1="7400" x2="57301" y2="845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77082" y="2780653"/>
            <a:ext cx="3251200" cy="251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4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304B"/>
                </a:solidFill>
                <a:latin typeface="Aptos"/>
              </a:rP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7887"/>
                </a:solidFill>
                <a:latin typeface="Aptos"/>
              </a:rPr>
              <a:t>The dashboard focuses on revenue, departments, patient flow and discount strategy.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5603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417320"/>
          </a:xfrm>
          <a:prstGeom prst="rect">
            <a:avLst/>
          </a:prstGeom>
          <a:solidFill>
            <a:srgbClr val="23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" name="TextBox 5"/>
          <p:cNvSpPr txBox="1"/>
          <p:nvPr/>
        </p:nvSpPr>
        <p:spPr>
          <a:xfrm>
            <a:off x="841247" y="1490472"/>
            <a:ext cx="22402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887"/>
                </a:solidFill>
                <a:latin typeface="Aptos"/>
              </a:rPr>
              <a:t>TOTAL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10512"/>
            <a:ext cx="22402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04B"/>
                </a:solidFill>
                <a:latin typeface="Aptos"/>
              </a:rPr>
              <a:t>₹509.31M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50008"/>
            <a:ext cx="2240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97887"/>
                </a:solidFill>
                <a:latin typeface="Aptos"/>
              </a:rPr>
              <a:t>Reported hospital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25880"/>
            <a:ext cx="25603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0" name="Rectangle 9"/>
          <p:cNvSpPr/>
          <p:nvPr/>
        </p:nvSpPr>
        <p:spPr>
          <a:xfrm>
            <a:off x="3383280" y="1325880"/>
            <a:ext cx="73152" cy="1417320"/>
          </a:xfrm>
          <a:prstGeom prst="rect">
            <a:avLst/>
          </a:prstGeom>
          <a:solidFill>
            <a:srgbClr val="2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" name="TextBox 10"/>
          <p:cNvSpPr txBox="1"/>
          <p:nvPr/>
        </p:nvSpPr>
        <p:spPr>
          <a:xfrm>
            <a:off x="3584448" y="1490472"/>
            <a:ext cx="22402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887"/>
                </a:solidFill>
                <a:latin typeface="Aptos"/>
              </a:rPr>
              <a:t>PATIENTS TREATED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1810512"/>
            <a:ext cx="22402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04B"/>
                </a:solidFill>
                <a:latin typeface="Aptos"/>
              </a:rPr>
              <a:t>9,216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350008"/>
            <a:ext cx="2240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97887"/>
                </a:solidFill>
                <a:latin typeface="Aptos"/>
              </a:rPr>
              <a:t>Reported annual patient 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325880"/>
            <a:ext cx="25603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5" name="Rectangle 14"/>
          <p:cNvSpPr/>
          <p:nvPr/>
        </p:nvSpPr>
        <p:spPr>
          <a:xfrm>
            <a:off x="6126480" y="1325880"/>
            <a:ext cx="73152" cy="141732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6" name="TextBox 15"/>
          <p:cNvSpPr txBox="1"/>
          <p:nvPr/>
        </p:nvSpPr>
        <p:spPr>
          <a:xfrm>
            <a:off x="6327648" y="1490472"/>
            <a:ext cx="22402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887"/>
                </a:solidFill>
                <a:latin typeface="Aptos"/>
              </a:rPr>
              <a:t>DOCTORS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810512"/>
            <a:ext cx="22402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04B"/>
                </a:solidFill>
                <a:latin typeface="Aptos"/>
              </a:rP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350008"/>
            <a:ext cx="2240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97887"/>
                </a:solidFill>
                <a:latin typeface="Aptos"/>
              </a:rPr>
              <a:t>Across 7 departments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325880"/>
            <a:ext cx="256032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0" name="Rectangle 19"/>
          <p:cNvSpPr/>
          <p:nvPr/>
        </p:nvSpPr>
        <p:spPr>
          <a:xfrm>
            <a:off x="8869680" y="1325880"/>
            <a:ext cx="73152" cy="1417320"/>
          </a:xfrm>
          <a:prstGeom prst="rect">
            <a:avLst/>
          </a:prstGeom>
          <a:solidFill>
            <a:srgbClr val="37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" name="TextBox 20"/>
          <p:cNvSpPr txBox="1"/>
          <p:nvPr/>
        </p:nvSpPr>
        <p:spPr>
          <a:xfrm>
            <a:off x="9070848" y="1490472"/>
            <a:ext cx="22402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887"/>
                </a:solidFill>
                <a:latin typeface="Aptos"/>
              </a:rPr>
              <a:t>ADULT REVENUE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1810512"/>
            <a:ext cx="22402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04B"/>
                </a:solidFill>
                <a:latin typeface="Aptos"/>
              </a:rPr>
              <a:t>57.13%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2350008"/>
            <a:ext cx="2240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97887"/>
                </a:solidFill>
                <a:latin typeface="Aptos"/>
              </a:rPr>
              <a:t>Age 20–64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154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04B"/>
                </a:solidFill>
                <a:latin typeface="Aptos"/>
              </a:rPr>
              <a:t>Business questions answered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657600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B32"/>
                </a:solidFill>
                <a:latin typeface="Aptos"/>
              </a:rPr>
              <a:t>• Which departments generate the most revenue?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33087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232B32"/>
                </a:solidFill>
                <a:latin typeface="Aptos"/>
              </a:rPr>
              <a:t>• Where should additional doctors be considered?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608576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B32"/>
                </a:solidFill>
                <a:latin typeface="Aptos"/>
              </a:rPr>
              <a:t>• Which departments have higher appointment fees / waiting time?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84064"/>
            <a:ext cx="51206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B32"/>
                </a:solidFill>
                <a:latin typeface="Aptos"/>
              </a:rPr>
              <a:t>• Which patient segments and periods could support targeted discounts?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154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04B"/>
                </a:solidFill>
                <a:latin typeface="Aptos"/>
              </a:rPr>
              <a:t>Core Power BI analysis areas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57600"/>
            <a:ext cx="4663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B32"/>
                </a:solidFill>
                <a:latin typeface="Aptos"/>
              </a:rPr>
              <a:t>✓ Revenue 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096512"/>
            <a:ext cx="4663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B32"/>
                </a:solidFill>
                <a:latin typeface="Aptos"/>
              </a:rPr>
              <a:t>✓ Department &amp; doctor capacity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535424"/>
            <a:ext cx="4663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B32"/>
                </a:solidFill>
                <a:latin typeface="Aptos"/>
              </a:rPr>
              <a:t>✓ Patient demographics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974336"/>
            <a:ext cx="4663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B32"/>
                </a:solidFill>
                <a:latin typeface="Aptos"/>
              </a:rPr>
              <a:t>✓ Monthly visit trend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413248"/>
            <a:ext cx="4663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B32"/>
                </a:solidFill>
                <a:latin typeface="Aptos"/>
              </a:rPr>
              <a:t>✓ Discount / retention strategy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solidFill>
                  <a:srgbClr val="14304B"/>
                </a:solidFill>
                <a:latin typeface="Aptos"/>
              </a:rPr>
              <a:t>Hospital Revenue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latin typeface="Aptos"/>
              </a:rPr>
              <a:t>Revenue is concentrated in Orthopedics and General Practice.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078596"/>
              </p:ext>
            </p:extLst>
          </p:nvPr>
        </p:nvGraphicFramePr>
        <p:xfrm>
          <a:off x="640080" y="1325880"/>
          <a:ext cx="667512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35240" y="1417320"/>
            <a:ext cx="3749039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" name="Rectangle 5"/>
          <p:cNvSpPr/>
          <p:nvPr/>
        </p:nvSpPr>
        <p:spPr>
          <a:xfrm>
            <a:off x="7635240" y="1417320"/>
            <a:ext cx="73152" cy="1234440"/>
          </a:xfrm>
          <a:prstGeom prst="rect">
            <a:avLst/>
          </a:prstGeom>
          <a:solidFill>
            <a:srgbClr val="23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" name="TextBox 6"/>
          <p:cNvSpPr txBox="1"/>
          <p:nvPr/>
        </p:nvSpPr>
        <p:spPr>
          <a:xfrm>
            <a:off x="7836408" y="1581912"/>
            <a:ext cx="34289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887"/>
                </a:solidFill>
                <a:latin typeface="Aptos"/>
              </a:rPr>
              <a:t>TOP REVENUE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408" y="1901952"/>
            <a:ext cx="34289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04B"/>
                </a:solidFill>
                <a:latin typeface="Aptos"/>
              </a:rPr>
              <a:t>Orthopedics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2441448"/>
            <a:ext cx="34289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97887"/>
                </a:solidFill>
                <a:latin typeface="Aptos"/>
              </a:rPr>
              <a:t>₹172.94M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788920"/>
            <a:ext cx="3749039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" name="Rectangle 10"/>
          <p:cNvSpPr/>
          <p:nvPr/>
        </p:nvSpPr>
        <p:spPr>
          <a:xfrm>
            <a:off x="7635240" y="2788920"/>
            <a:ext cx="73152" cy="1234440"/>
          </a:xfrm>
          <a:prstGeom prst="rect">
            <a:avLst/>
          </a:prstGeom>
          <a:solidFill>
            <a:srgbClr val="2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2" name="TextBox 11"/>
          <p:cNvSpPr txBox="1"/>
          <p:nvPr/>
        </p:nvSpPr>
        <p:spPr>
          <a:xfrm>
            <a:off x="7836408" y="2953512"/>
            <a:ext cx="34289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887"/>
                </a:solidFill>
                <a:latin typeface="Aptos"/>
              </a:rPr>
              <a:t>SECOND HIGHEST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3273552"/>
            <a:ext cx="34289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04B"/>
                </a:solidFill>
                <a:latin typeface="Aptos"/>
              </a:rPr>
              <a:t>General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36408" y="3813048"/>
            <a:ext cx="34289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97887"/>
                </a:solidFill>
                <a:latin typeface="Aptos"/>
              </a:rPr>
              <a:t>₹164.07M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160520"/>
            <a:ext cx="3749039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6" name="Rectangle 15"/>
          <p:cNvSpPr/>
          <p:nvPr/>
        </p:nvSpPr>
        <p:spPr>
          <a:xfrm>
            <a:off x="7635240" y="4160520"/>
            <a:ext cx="73152" cy="123444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7" name="TextBox 16"/>
          <p:cNvSpPr txBox="1"/>
          <p:nvPr/>
        </p:nvSpPr>
        <p:spPr>
          <a:xfrm>
            <a:off x="7836408" y="4325112"/>
            <a:ext cx="34289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887"/>
                </a:solidFill>
                <a:latin typeface="Aptos"/>
              </a:rPr>
              <a:t>TOP TWO COMBINED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36408" y="4645152"/>
            <a:ext cx="34289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04B"/>
                </a:solidFill>
                <a:latin typeface="Aptos"/>
              </a:rPr>
              <a:t>₹337.01M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5184648"/>
            <a:ext cx="34289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97887"/>
                </a:solidFill>
                <a:latin typeface="Aptos"/>
              </a:rPr>
              <a:t>≈66% of reported revenue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40561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dirty="0">
                <a:solidFill>
                  <a:schemeClr val="accent1">
                    <a:lumMod val="75000"/>
                  </a:schemeClr>
                </a:solidFill>
                <a:latin typeface="Aptos "/>
                <a:cs typeface="Arial" panose="020B0604020202020204" pitchFamily="34" charset="0"/>
              </a:rPr>
              <a:t>Department Appointment Fee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853531"/>
            <a:ext cx="10789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Appointment fees vary considerably across departments.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1788" y="2834881"/>
            <a:ext cx="2642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b="1" dirty="0" err="1">
                <a:solidFill>
                  <a:srgbClr val="14304B"/>
                </a:solidFill>
                <a:latin typeface="Aptos"/>
              </a:rPr>
              <a:t>Highes</a:t>
            </a:r>
            <a:r>
              <a:rPr lang="en-IN" b="1" dirty="0">
                <a:solidFill>
                  <a:srgbClr val="14304B"/>
                </a:solidFill>
                <a:latin typeface="Aptos"/>
              </a:rPr>
              <a:t>t </a:t>
            </a:r>
          </a:p>
          <a:p>
            <a:pPr algn="ctr"/>
            <a:r>
              <a:rPr lang="en-IN" b="1" dirty="0">
                <a:solidFill>
                  <a:srgbClr val="14304B"/>
                </a:solidFill>
                <a:latin typeface="Aptos"/>
              </a:rPr>
              <a:t>Appointment fee: Neurology — ₹1,500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0C9CC85-22B9-D9EE-2707-7D5A1A83AB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682406"/>
              </p:ext>
            </p:extLst>
          </p:nvPr>
        </p:nvGraphicFramePr>
        <p:xfrm>
          <a:off x="2739717" y="1438987"/>
          <a:ext cx="5303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4304B"/>
                </a:solidFill>
                <a:latin typeface="Aptos"/>
              </a:rPr>
              <a:t>Patient Waiting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97887"/>
                </a:solidFill>
                <a:latin typeface="Aptos"/>
              </a:rPr>
              <a:t>Maximum patient wait time is 60 minutes across all departments.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1089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 b="1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132588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 b="1"/>
          </a:p>
        </p:txBody>
      </p:sp>
      <p:sp>
        <p:nvSpPr>
          <p:cNvPr id="6" name="TextBox 5"/>
          <p:cNvSpPr txBox="1"/>
          <p:nvPr/>
        </p:nvSpPr>
        <p:spPr>
          <a:xfrm>
            <a:off x="932688" y="1536192"/>
            <a:ext cx="2788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97887"/>
                </a:solidFill>
                <a:latin typeface="Aptos"/>
              </a:rPr>
              <a:t>MAXIMUM 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2788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4304B"/>
                </a:solidFill>
                <a:latin typeface="Aptos"/>
              </a:rPr>
              <a:t>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2788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97887"/>
                </a:solidFill>
                <a:latin typeface="Aptos"/>
              </a:rPr>
              <a:t>Across all departments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371600"/>
            <a:ext cx="31089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 b="1"/>
          </a:p>
        </p:txBody>
      </p:sp>
      <p:sp>
        <p:nvSpPr>
          <p:cNvPr id="10" name="Rectangle 9"/>
          <p:cNvSpPr/>
          <p:nvPr/>
        </p:nvSpPr>
        <p:spPr>
          <a:xfrm>
            <a:off x="4069080" y="1371600"/>
            <a:ext cx="73152" cy="132588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 b="1"/>
          </a:p>
        </p:txBody>
      </p:sp>
      <p:sp>
        <p:nvSpPr>
          <p:cNvPr id="11" name="TextBox 10"/>
          <p:cNvSpPr txBox="1"/>
          <p:nvPr/>
        </p:nvSpPr>
        <p:spPr>
          <a:xfrm>
            <a:off x="4270248" y="1536192"/>
            <a:ext cx="2788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97887"/>
                </a:solidFill>
                <a:latin typeface="Aptos"/>
              </a:rPr>
              <a:t>HIGHEST AVERAGE WAIT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1856232"/>
            <a:ext cx="2788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4304B"/>
                </a:solidFill>
                <a:latin typeface="Aptos"/>
              </a:rPr>
              <a:t>37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2395728"/>
            <a:ext cx="2788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97887"/>
                </a:solidFill>
                <a:latin typeface="Aptos"/>
              </a:rPr>
              <a:t>Neurology &amp; Physiotherapy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371600"/>
            <a:ext cx="310896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 b="1"/>
          </a:p>
        </p:txBody>
      </p:sp>
      <p:sp>
        <p:nvSpPr>
          <p:cNvPr id="15" name="Rectangle 14"/>
          <p:cNvSpPr/>
          <p:nvPr/>
        </p:nvSpPr>
        <p:spPr>
          <a:xfrm>
            <a:off x="7406640" y="1371600"/>
            <a:ext cx="73152" cy="1325880"/>
          </a:xfrm>
          <a:prstGeom prst="rect">
            <a:avLst/>
          </a:prstGeom>
          <a:solidFill>
            <a:srgbClr val="23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 b="1"/>
          </a:p>
        </p:txBody>
      </p:sp>
      <p:sp>
        <p:nvSpPr>
          <p:cNvPr id="16" name="TextBox 15"/>
          <p:cNvSpPr txBox="1"/>
          <p:nvPr/>
        </p:nvSpPr>
        <p:spPr>
          <a:xfrm>
            <a:off x="7607808" y="1536192"/>
            <a:ext cx="2788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97887"/>
                </a:solidFill>
                <a:latin typeface="Aptos"/>
              </a:rPr>
              <a:t>LOWEST AVERAGE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1856232"/>
            <a:ext cx="2788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4304B"/>
                </a:solidFill>
                <a:latin typeface="Aptos"/>
              </a:rPr>
              <a:t>35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395728"/>
            <a:ext cx="2788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697887"/>
                </a:solidFill>
                <a:latin typeface="Aptos"/>
              </a:rPr>
              <a:t>Several departments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214959"/>
              </p:ext>
            </p:extLst>
          </p:nvPr>
        </p:nvGraphicFramePr>
        <p:xfrm>
          <a:off x="731520" y="3063240"/>
          <a:ext cx="8659368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Rectangle 19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5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chemeClr val="tx2"/>
                </a:solidFill>
                <a:latin typeface="Aptos"/>
              </a:rPr>
              <a:t>Top Revenue-Generating Departments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chemeClr val="tx2"/>
                </a:solidFill>
                <a:latin typeface="Aptos"/>
              </a:rPr>
              <a:t>The revenue mix shows a strong concentration in two departments.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738436"/>
              </p:ext>
            </p:extLst>
          </p:nvPr>
        </p:nvGraphicFramePr>
        <p:xfrm>
          <a:off x="685800" y="1325880"/>
          <a:ext cx="47548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06440" y="1417320"/>
            <a:ext cx="5303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chemeClr val="tx2"/>
                </a:solidFill>
                <a:latin typeface="Aptos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011680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tx2"/>
                </a:solidFill>
                <a:latin typeface="Aptos"/>
              </a:rPr>
              <a:t>1. Orthopedics contributes ₹172.94M (33.96%).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2697480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tx2"/>
                </a:solidFill>
                <a:latin typeface="Aptos"/>
              </a:rPr>
              <a:t>2. General Practice contributes ₹164.07M (32.21%).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3383280"/>
            <a:ext cx="5212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chemeClr val="tx2"/>
                </a:solidFill>
                <a:latin typeface="Aptos"/>
              </a:rPr>
              <a:t>3. Neurology and Cardiology are the next major contributors.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4206240"/>
            <a:ext cx="52120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chemeClr val="tx2"/>
                </a:solidFill>
                <a:latin typeface="Aptos"/>
              </a:rPr>
              <a:t>Business implication: protect capacity in leading departments while evaluating growth opportunities in mid-tier specialties.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250">
        <p15:prstTrans prst="prestig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304B"/>
                </a:solidFill>
                <a:latin typeface="Aptos"/>
              </a:rPr>
              <a:t>Department for New Hires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7887"/>
                </a:solidFill>
                <a:latin typeface="Aptos"/>
              </a:rPr>
              <a:t>Hiring decisions should consider patient volume, revenue contribution and existing doctor capacity.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8813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149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Department</a:t>
                      </a:r>
                    </a:p>
                  </a:txBody>
                  <a:tcPr>
                    <a:solidFill>
                      <a:srgbClr val="1430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Doctors</a:t>
                      </a:r>
                    </a:p>
                  </a:txBody>
                  <a:tcPr>
                    <a:solidFill>
                      <a:srgbClr val="1430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Patients</a:t>
                      </a:r>
                    </a:p>
                  </a:txBody>
                  <a:tcPr>
                    <a:solidFill>
                      <a:srgbClr val="1430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1430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General Practice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7240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32B32"/>
                          </a:solidFill>
                        </a:rPr>
                        <a:t>₹164.07M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Orthopedics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995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₹172.94M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32B32"/>
                          </a:solidFill>
                        </a:rPr>
                        <a:t>Physiotherapy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276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32B32"/>
                          </a:solidFill>
                        </a:rPr>
                        <a:t>₹16.59M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Cardiology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248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₹68.37M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Neurology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193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₹72.80M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Gastroenterology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178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₹9.78M</a:t>
                      </a:r>
                    </a:p>
                  </a:txBody>
                  <a:tcPr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Renal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32B32"/>
                          </a:solidFill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232B32"/>
                          </a:solidFill>
                        </a:rPr>
                        <a:t>₹4.76M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833872"/>
            <a:ext cx="10515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304B"/>
                </a:solidFill>
                <a:latin typeface="Aptos"/>
              </a:rPr>
              <a:t>Priority signal: General Practice has the largest patient volume by far, while Orthopedics combines high revenue with high patient volume.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304B"/>
                </a:solidFill>
                <a:latin typeface="Aptos"/>
              </a:rPr>
              <a:t>Patient Revenue by Age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7887"/>
                </a:solidFill>
                <a:latin typeface="Aptos"/>
              </a:rPr>
              <a:t>Adults aged 20–64 account for the largest share of reported revenue.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285506"/>
              </p:ext>
            </p:extLst>
          </p:nvPr>
        </p:nvGraphicFramePr>
        <p:xfrm>
          <a:off x="640080" y="1325880"/>
          <a:ext cx="64008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60920" y="1417320"/>
            <a:ext cx="388620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" name="Rectangle 5"/>
          <p:cNvSpPr/>
          <p:nvPr/>
        </p:nvSpPr>
        <p:spPr>
          <a:xfrm>
            <a:off x="7360920" y="1417320"/>
            <a:ext cx="73152" cy="1280160"/>
          </a:xfrm>
          <a:prstGeom prst="rect">
            <a:avLst/>
          </a:prstGeom>
          <a:solidFill>
            <a:srgbClr val="23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" name="TextBox 6"/>
          <p:cNvSpPr txBox="1"/>
          <p:nvPr/>
        </p:nvSpPr>
        <p:spPr>
          <a:xfrm>
            <a:off x="7562088" y="1581912"/>
            <a:ext cx="3566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887"/>
                </a:solidFill>
                <a:latin typeface="Aptos"/>
              </a:rPr>
              <a:t>HIGHEST REVENUE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2088" y="1901952"/>
            <a:ext cx="3566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04B"/>
                </a:solidFill>
                <a:latin typeface="Aptos"/>
              </a:rPr>
              <a:t>Adult (20–64)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2088" y="244144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97887"/>
                </a:solidFill>
                <a:latin typeface="Aptos"/>
              </a:rPr>
              <a:t>₹290.97M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834640"/>
            <a:ext cx="388620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" name="Rectangle 10"/>
          <p:cNvSpPr/>
          <p:nvPr/>
        </p:nvSpPr>
        <p:spPr>
          <a:xfrm>
            <a:off x="7360920" y="2834640"/>
            <a:ext cx="73152" cy="1280160"/>
          </a:xfrm>
          <a:prstGeom prst="rect">
            <a:avLst/>
          </a:prstGeom>
          <a:solidFill>
            <a:srgbClr val="2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2" name="TextBox 11"/>
          <p:cNvSpPr txBox="1"/>
          <p:nvPr/>
        </p:nvSpPr>
        <p:spPr>
          <a:xfrm>
            <a:off x="7562088" y="2999232"/>
            <a:ext cx="3566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887"/>
                </a:solidFill>
                <a:latin typeface="Aptos"/>
              </a:rPr>
              <a:t>SHARE OF 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2088" y="3319272"/>
            <a:ext cx="3566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04B"/>
                </a:solidFill>
                <a:latin typeface="Aptos"/>
              </a:rPr>
              <a:t>57.13%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385876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97887"/>
                </a:solidFill>
                <a:latin typeface="Aptos"/>
              </a:rPr>
              <a:t>Adults 20–64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434840"/>
            <a:ext cx="374903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B32"/>
                </a:solidFill>
                <a:latin typeface="Aptos"/>
              </a:rPr>
              <a:t>Use age segmentation to tailor loyalty, preventive-care and service-package offers.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304B"/>
                </a:solidFill>
                <a:latin typeface="Aptos"/>
              </a:rPr>
              <a:t>Patient Visit Trend Throughout the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latin typeface="Aptos"/>
              </a:rPr>
              <a:t>Monthly visits fluctuate considerably, with a reported 4.68% decline from January to December.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408699"/>
              </p:ext>
            </p:extLst>
          </p:nvPr>
        </p:nvGraphicFramePr>
        <p:xfrm>
          <a:off x="640080" y="1371600"/>
          <a:ext cx="7498079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58200" y="1554480"/>
            <a:ext cx="292608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6" name="Rectangle 5"/>
          <p:cNvSpPr/>
          <p:nvPr/>
        </p:nvSpPr>
        <p:spPr>
          <a:xfrm>
            <a:off x="8458200" y="1554480"/>
            <a:ext cx="73152" cy="1280160"/>
          </a:xfrm>
          <a:prstGeom prst="rect">
            <a:avLst/>
          </a:prstGeom>
          <a:solidFill>
            <a:srgbClr val="2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" name="TextBox 6"/>
          <p:cNvSpPr txBox="1"/>
          <p:nvPr/>
        </p:nvSpPr>
        <p:spPr>
          <a:xfrm>
            <a:off x="8659368" y="1719072"/>
            <a:ext cx="2606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887"/>
                </a:solidFill>
                <a:latin typeface="Aptos"/>
              </a:rPr>
              <a:t>JANUARY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59368" y="2039112"/>
            <a:ext cx="2606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04B"/>
                </a:solidFill>
                <a:latin typeface="Aptos"/>
              </a:rPr>
              <a:t>513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59368" y="2578608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97887"/>
                </a:solidFill>
                <a:latin typeface="Aptos"/>
              </a:rPr>
              <a:t>Starting 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3017520"/>
            <a:ext cx="292608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1" name="Rectangle 10"/>
          <p:cNvSpPr/>
          <p:nvPr/>
        </p:nvSpPr>
        <p:spPr>
          <a:xfrm>
            <a:off x="8458200" y="3017520"/>
            <a:ext cx="73152" cy="1280160"/>
          </a:xfrm>
          <a:prstGeom prst="rect">
            <a:avLst/>
          </a:prstGeom>
          <a:solidFill>
            <a:srgbClr val="23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2" name="TextBox 11"/>
          <p:cNvSpPr txBox="1"/>
          <p:nvPr/>
        </p:nvSpPr>
        <p:spPr>
          <a:xfrm>
            <a:off x="8659368" y="3182112"/>
            <a:ext cx="2606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887"/>
                </a:solidFill>
                <a:latin typeface="Aptos"/>
              </a:rPr>
              <a:t>PEAK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9368" y="3502152"/>
            <a:ext cx="2606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04B"/>
                </a:solidFill>
                <a:latin typeface="Aptos"/>
              </a:rPr>
              <a:t>August — 1,024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9368" y="4041648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97887"/>
                </a:solidFill>
                <a:latin typeface="Aptos"/>
              </a:rPr>
              <a:t>Highest reported visits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480560"/>
            <a:ext cx="292608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6" name="Rectangle 15"/>
          <p:cNvSpPr/>
          <p:nvPr/>
        </p:nvSpPr>
        <p:spPr>
          <a:xfrm>
            <a:off x="8458200" y="4480560"/>
            <a:ext cx="73152" cy="128016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7" name="TextBox 16"/>
          <p:cNvSpPr txBox="1"/>
          <p:nvPr/>
        </p:nvSpPr>
        <p:spPr>
          <a:xfrm>
            <a:off x="8659368" y="4645152"/>
            <a:ext cx="26060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887"/>
                </a:solidFill>
                <a:latin typeface="Aptos"/>
              </a:rPr>
              <a:t>DECEMBER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8" y="4965192"/>
            <a:ext cx="2606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304B"/>
                </a:solidFill>
                <a:latin typeface="Aptos"/>
              </a:rPr>
              <a:t>489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8" y="5504688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97887"/>
                </a:solidFill>
                <a:latin typeface="Aptos"/>
              </a:rPr>
              <a:t>End point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304B"/>
                </a:solidFill>
                <a:latin typeface="Aptos"/>
              </a:rPr>
              <a:t>Patient Discount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97887"/>
                </a:solidFill>
                <a:latin typeface="Aptos"/>
              </a:rPr>
              <a:t>The reference recommends targeted rather than blanket discounting.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698480" cy="7315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731520"/>
          </a:xfrm>
          <a:prstGeom prst="rect">
            <a:avLst/>
          </a:prstGeom>
          <a:solidFill>
            <a:srgbClr val="23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807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04B"/>
                </a:solidFill>
                <a:latin typeface="Aptos"/>
              </a:rPr>
              <a:t>Prompt payment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3441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B32"/>
                </a:solidFill>
                <a:latin typeface="Aptos"/>
              </a:rPr>
              <a:t>Offer discounts for bills settled within a defined time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67128"/>
            <a:ext cx="10698480" cy="7315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2167128"/>
            <a:ext cx="73152" cy="731520"/>
          </a:xfrm>
          <a:prstGeom prst="rect">
            <a:avLst/>
          </a:prstGeom>
          <a:solidFill>
            <a:srgbClr val="2B6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313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04B"/>
                </a:solidFill>
                <a:latin typeface="Aptos"/>
              </a:rPr>
              <a:t>Bundled packages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76856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B32"/>
                </a:solidFill>
                <a:latin typeface="Aptos"/>
              </a:rPr>
              <a:t>Create discounted packages for related services or treatments.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99816"/>
            <a:ext cx="10698480" cy="7315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099816"/>
            <a:ext cx="73152" cy="731520"/>
          </a:xfrm>
          <a:prstGeom prst="rect">
            <a:avLst/>
          </a:prstGeom>
          <a:solidFill>
            <a:srgbClr val="37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04B"/>
                </a:solidFill>
                <a:latin typeface="Aptos"/>
              </a:rPr>
              <a:t>Loyalty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20954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B32"/>
                </a:solidFill>
                <a:latin typeface="Aptos"/>
              </a:rPr>
              <a:t>Reward frequent patients to improve retention and satisfaction.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32504"/>
            <a:ext cx="10698480" cy="7315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032504"/>
            <a:ext cx="73152" cy="73152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1788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04B"/>
                </a:solidFill>
                <a:latin typeface="Aptos"/>
              </a:rPr>
              <a:t>Senior benefits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142232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B32"/>
                </a:solidFill>
                <a:latin typeface="Aptos"/>
              </a:rPr>
              <a:t>Offer targeted benefits acknowledging senior-care needs.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65192"/>
            <a:ext cx="10698480" cy="731520"/>
          </a:xfrm>
          <a:prstGeom prst="roundRect">
            <a:avLst/>
          </a:prstGeom>
          <a:solidFill>
            <a:srgbClr val="F4F7FA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965192"/>
            <a:ext cx="73152" cy="73152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111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304B"/>
                </a:solidFill>
                <a:latin typeface="Aptos"/>
              </a:rPr>
              <a:t>Referral program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07492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B32"/>
                </a:solidFill>
                <a:latin typeface="Aptos"/>
              </a:rPr>
              <a:t>Reward existing patients who bring in new patients.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304B"/>
                </a:solidFill>
                <a:latin typeface="Aptos"/>
              </a:rPr>
              <a:t>Where to Target Promotions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789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latin typeface="Aptos"/>
              </a:rPr>
              <a:t>The supplied reference highlights specific periods and the adult segment for targeted engagement.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04B"/>
                </a:solidFill>
                <a:latin typeface="Aptos"/>
              </a:rPr>
              <a:t>Target 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9377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2B32"/>
                </a:solidFill>
                <a:latin typeface="Aptos"/>
              </a:rPr>
              <a:t>Adults (20–64) are the strongest revenue segment and represent 57.13% of total revenue.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04B"/>
                </a:solidFill>
                <a:latin typeface="Aptos"/>
              </a:rPr>
              <a:t>Target periods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49377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32B32"/>
                </a:solidFill>
                <a:latin typeface="Aptos"/>
              </a:rPr>
              <a:t>Consider seasonal promotions particularly during January–March and November–December, as suggested in the reference.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304B"/>
                </a:solidFill>
                <a:latin typeface="Aptos"/>
              </a:rPr>
              <a:t>Recommended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B32"/>
                </a:solidFill>
                <a:latin typeface="Aptos"/>
              </a:rPr>
              <a:t>• Test offers before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B32"/>
                </a:solidFill>
                <a:latin typeface="Aptos"/>
              </a:rPr>
              <a:t>• Measure redemption and repeat visits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154680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B32"/>
                </a:solidFill>
                <a:latin typeface="Aptos"/>
              </a:rPr>
              <a:t>• Protect margins on high-demand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49039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32B32"/>
                </a:solidFill>
                <a:latin typeface="Aptos"/>
              </a:rPr>
              <a:t>• Compare campaign periods against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789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POWER BI DASHBOARD STORY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01752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b="1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8E89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04B"/>
                </a:solidFill>
                <a:latin typeface="Aptos"/>
              </a:rPr>
              <a:t>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251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B32"/>
                </a:solidFill>
                <a:latin typeface="Aptos"/>
              </a:rPr>
              <a:t>Hospital-wide KPIs, revenue and operational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97887"/>
                </a:solidFill>
                <a:latin typeface="Aptos"/>
              </a:rPr>
              <a:t>Interactive Power BI 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08760"/>
            <a:ext cx="301752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b="1"/>
          </a:p>
        </p:txBody>
      </p:sp>
      <p:sp>
        <p:nvSpPr>
          <p:cNvPr id="9" name="TextBox 8"/>
          <p:cNvSpPr txBox="1"/>
          <p:nvPr/>
        </p:nvSpPr>
        <p:spPr>
          <a:xfrm>
            <a:off x="4389120" y="178308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8E89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4028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04B"/>
                </a:solidFill>
                <a:latin typeface="Aptos"/>
              </a:rPr>
              <a:t>DOCTORS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063240"/>
            <a:ext cx="2514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B32"/>
                </a:solidFill>
                <a:latin typeface="Aptos"/>
              </a:rPr>
              <a:t>Department capacity, doctors, patient load and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572000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97887"/>
                </a:solidFill>
                <a:latin typeface="Aptos"/>
              </a:rPr>
              <a:t>Interactive Power BI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508760"/>
            <a:ext cx="301752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b="1"/>
          </a:p>
        </p:txBody>
      </p:sp>
      <p:sp>
        <p:nvSpPr>
          <p:cNvPr id="14" name="TextBox 13"/>
          <p:cNvSpPr txBox="1"/>
          <p:nvPr/>
        </p:nvSpPr>
        <p:spPr>
          <a:xfrm>
            <a:off x="7863840" y="178308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8E89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240280"/>
            <a:ext cx="2560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04B"/>
                </a:solidFill>
                <a:latin typeface="Aptos"/>
              </a:rPr>
              <a:t>PATIENTS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063240"/>
            <a:ext cx="2514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32B32"/>
                </a:solidFill>
                <a:latin typeface="Aptos"/>
              </a:rPr>
              <a:t>Patient demographics, visits and engagement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572000"/>
            <a:ext cx="2468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97887"/>
                </a:solidFill>
                <a:latin typeface="Aptos"/>
              </a:rPr>
              <a:t>Interactive Power BI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2E1EB"/>
                </a:solidFill>
                <a:latin typeface="Aptos"/>
              </a:rPr>
              <a:t>The presentation mirrors the reference structure while turning the analysis into an interview-ready business story.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4304B"/>
                </a:solidFill>
                <a:latin typeface="Aptos"/>
              </a:rPr>
              <a:t>Key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10789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97887"/>
                </a:solidFill>
                <a:latin typeface="Aptos"/>
              </a:rPr>
              <a:t>Translate the dashboard findings into practical management actions.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234440"/>
            <a:ext cx="502920" cy="502920"/>
          </a:xfrm>
          <a:prstGeom prst="ellipse">
            <a:avLst/>
          </a:prstGeom>
          <a:solidFill>
            <a:srgbClr val="23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5" name="TextBox 4"/>
          <p:cNvSpPr txBox="1"/>
          <p:nvPr/>
        </p:nvSpPr>
        <p:spPr>
          <a:xfrm>
            <a:off x="777240" y="1335024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2344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04B"/>
                </a:solidFill>
                <a:latin typeface="Aptos"/>
              </a:rPr>
              <a:t>Protect high-revenue departments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234440"/>
            <a:ext cx="6217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2B32"/>
                </a:solidFill>
                <a:latin typeface="Aptos"/>
              </a:rPr>
              <a:t>Maintain capacity and service quality in Orthopedics and General Practice.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23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9" name="TextBox 8"/>
          <p:cNvSpPr txBox="1"/>
          <p:nvPr/>
        </p:nvSpPr>
        <p:spPr>
          <a:xfrm>
            <a:off x="777240" y="2295144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94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04B"/>
                </a:solidFill>
                <a:latin typeface="Aptos"/>
              </a:rPr>
              <a:t>Review General Practice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194560"/>
            <a:ext cx="6217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2B32"/>
                </a:solidFill>
                <a:latin typeface="Aptos"/>
              </a:rPr>
              <a:t>The very high patient volume suggests a strong case for capacity planning.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23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3" name="TextBox 12"/>
          <p:cNvSpPr txBox="1"/>
          <p:nvPr/>
        </p:nvSpPr>
        <p:spPr>
          <a:xfrm>
            <a:off x="777240" y="3255264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154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04B"/>
                </a:solidFill>
                <a:latin typeface="Aptos"/>
              </a:rPr>
              <a:t>Investigate waiting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154680"/>
            <a:ext cx="6217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2B32"/>
                </a:solidFill>
                <a:latin typeface="Aptos"/>
              </a:rPr>
              <a:t>Neurology and Physiotherapy show the highest average waits at 37 minutes.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23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7" name="TextBox 16"/>
          <p:cNvSpPr txBox="1"/>
          <p:nvPr/>
        </p:nvSpPr>
        <p:spPr>
          <a:xfrm>
            <a:off x="777240" y="4215384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1148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04B"/>
                </a:solidFill>
                <a:latin typeface="Aptos"/>
              </a:rPr>
              <a:t>Use targeted promotions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114800"/>
            <a:ext cx="6217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2B32"/>
                </a:solidFill>
                <a:latin typeface="Aptos"/>
              </a:rPr>
              <a:t>Focus loyalty, bundles and seasonal offers on measurable segments and periods.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5074920"/>
            <a:ext cx="502920" cy="502920"/>
          </a:xfrm>
          <a:prstGeom prst="ellipse">
            <a:avLst/>
          </a:prstGeom>
          <a:solidFill>
            <a:srgbClr val="238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" name="TextBox 20"/>
          <p:cNvSpPr txBox="1"/>
          <p:nvPr/>
        </p:nvSpPr>
        <p:spPr>
          <a:xfrm>
            <a:off x="777240" y="5175504"/>
            <a:ext cx="502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0749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304B"/>
                </a:solidFill>
                <a:latin typeface="Aptos"/>
              </a:rPr>
              <a:t>Monitor monthly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5074920"/>
            <a:ext cx="6217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32B32"/>
                </a:solidFill>
                <a:latin typeface="Aptos"/>
              </a:rPr>
              <a:t>Use the Power BI trend page to spot peaks and plan staffing accordingly.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6539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32B011-28B4-5BFB-4813-A259FBD54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7" y="190900"/>
            <a:ext cx="11702142" cy="652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050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372670-8352-217A-BC4A-7891F1170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87086"/>
            <a:ext cx="11815857" cy="669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23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5DB59E-B3A0-19C2-78F7-DD8489C6C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47" y="93394"/>
            <a:ext cx="11843306" cy="657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66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6760" y="2057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dirty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6691" y="3063240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dirty="0">
                <a:solidFill>
                  <a:srgbClr val="D2E1EB"/>
                </a:solidFill>
                <a:latin typeface="Aptos"/>
              </a:rPr>
              <a:t>Columbia Asia Hospital — Power BI Analysis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000">
        <p15:prstTrans prst="pageCurlDouble"/>
        <p:sndAc>
          <p:stSnd>
            <p:snd r:embed="rId2" name="applause.wav"/>
          </p:stSnd>
        </p:sndAc>
      </p:transition>
    </mc:Choice>
    <mc:Fallback xmlns="">
      <p:transition spd="slow">
        <p:fade/>
        <p:sndAc>
          <p:stSnd>
            <p:snd r:embed="rId3" name="applaus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856</Words>
  <Application>Microsoft Office PowerPoint</Application>
  <PresentationFormat>Widescreen</PresentationFormat>
  <Paragraphs>192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Ravikant Singh</dc:creator>
  <cp:keywords/>
  <dc:description>generated using python-pptx</dc:description>
  <cp:lastModifiedBy>Ravikant Singh</cp:lastModifiedBy>
  <cp:revision>4</cp:revision>
  <dcterms:created xsi:type="dcterms:W3CDTF">2013-01-27T09:14:16Z</dcterms:created>
  <dcterms:modified xsi:type="dcterms:W3CDTF">2026-08-27T08:03:10Z</dcterms:modified>
  <cp:category/>
</cp:coreProperties>
</file>